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d10bb58-eb4f-676e-6825-d5038a46b091}">
          <p14:sldIdLst>
            <p14:sldId id="256"/>
            <p14:sldId id="257"/>
          </p14:sldIdLst>
        </p14:section>
        <p14:section name="Audit" id="{64da3a87-c575-6fa9-bff7-c04bf112c841}">
          <p14:sldIdLst>
            <p14:sldId id="258"/>
          </p14:sldIdLst>
        </p14:section>
        <p14:section name="Méthode" id="{0ef8200f-372b-b818-dc17-f5864db5b8fb}">
          <p14:sldIdLst>
            <p14:sldId id="259"/>
            <p14:sldId id="260"/>
            <p14:sldId id="261"/>
          </p14:sldIdLst>
        </p14:section>
        <p14:section name="Résultats" id="{3d3057bf-a34a-d5bd-55db-158d34f54ecf}">
          <p14:sldIdLst>
            <p14:sldId id="262"/>
            <p14:sldId id="263"/>
            <p14:sldId id="264"/>
            <p14:sldId id="265"/>
          </p14:sldIdLst>
        </p14:section>
        <p14:section name="Démo et XAI" id="{703207dd-9c77-c293-e6cf-64bbdc1d5f19}">
          <p14:sldIdLst>
            <p14:sldId id="266"/>
            <p14:sldId id="267"/>
          </p14:sldIdLst>
        </p14:section>
        <p14:section name="Conclusion" id="{d6d7e471-2603-3050-bc78-332f47eac5bf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Poids moyen par groupe (train)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Poids moyen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E9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E93B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Femme noire &gt;50K</c:v>
                  </c:pt>
                  <c:pt idx="1">
                    <c:v>Femme blanche &gt;50K</c:v>
                  </c:pt>
                  <c:pt idx="2">
                    <c:v>Homme noir &gt;50K</c:v>
                  </c:pt>
                  <c:pt idx="3">
                    <c:v>Homme blanc &lt;=50K</c:v>
                  </c:pt>
                  <c:pt idx="4">
                    <c:v>Homme blanc &gt;50K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2.14</c:v>
                </c:pt>
                <c:pt idx="2">
                  <c:v>1.7</c:v>
                </c:pt>
                <c:pt idx="3">
                  <c:v>1.11</c:v>
                </c:pt>
                <c:pt idx="4">
                  <c:v>0.77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  <c:min val="0"/>
        </c:scaling>
        <c:delete val="0"/>
        <c:axPos val="b"/>
        <c:majorGridlines>
          <c:spPr>
            <a:ln w="6350" cap="flat">
              <a:solidFill>
                <a:srgbClr val="DDE0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E9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Écart de parité démographique (sexe)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Avant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Full FT</c:v>
                  </c:pt>
                  <c:pt idx="1">
                    <c:v>LoRA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0.248</c:v>
                </c:pt>
                <c:pt idx="1">
                  <c:v>0.26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Après</c:v>
                </c:pt>
              </c:strCache>
            </c:strRef>
          </c:tx>
          <c:spPr>
            <a:solidFill>
              <a:srgbClr val="17A39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Full FT</c:v>
                  </c:pt>
                  <c:pt idx="1">
                    <c:v>LoRA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0.059</c:v>
                </c:pt>
                <c:pt idx="1">
                  <c:v>0.043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0"/>
        </c:scaling>
        <c:delete val="0"/>
        <c:axPos val="l"/>
        <c:majorGridlines>
          <c:spPr>
            <a:ln w="6350" cap="flat">
              <a:solidFill>
                <a:srgbClr val="DDE0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E9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Écart d'égalité des chances (sexe × origine)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Avant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Full FT</c:v>
                  </c:pt>
                  <c:pt idx="1">
                    <c:v>LoRA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0.528</c:v>
                </c:pt>
                <c:pt idx="1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Après</c:v>
                </c:pt>
              </c:strCache>
            </c:strRef>
          </c:tx>
          <c:spPr>
            <a:solidFill>
              <a:srgbClr val="17A39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Full FT</c:v>
                  </c:pt>
                  <c:pt idx="1">
                    <c:v>LoRA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0.001</c:v>
                </c:pt>
                <c:pt idx="1">
                  <c:v>0.044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6350" cap="flat">
              <a:solidFill>
                <a:srgbClr val="DDE0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E9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Probabilité prédite de &gt;50K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Avant (LoRA original)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Homme blanc</c:v>
                  </c:pt>
                  <c:pt idx="1">
                    <c:v>Femme blanche</c:v>
                  </c:pt>
                  <c:pt idx="2">
                    <c:v>Homme noir</c:v>
                  </c:pt>
                  <c:pt idx="3">
                    <c:v>Femme noire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0.679</c:v>
                </c:pt>
                <c:pt idx="1">
                  <c:v>0.367</c:v>
                </c:pt>
                <c:pt idx="2">
                  <c:v>0.674</c:v>
                </c:pt>
                <c:pt idx="3">
                  <c:v>0.365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Après (modèle retenu)</c:v>
                </c:pt>
              </c:strCache>
            </c:strRef>
          </c:tx>
          <c:spPr>
            <a:solidFill>
              <a:srgbClr val="17A39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Homme blanc</c:v>
                  </c:pt>
                  <c:pt idx="1">
                    <c:v>Femme blanche</c:v>
                  </c:pt>
                  <c:pt idx="2">
                    <c:v>Homme noir</c:v>
                  </c:pt>
                  <c:pt idx="3">
                    <c:v>Femme noire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</c:v>
                </c:pt>
                <c:pt idx="1">
                  <c:v>0.696</c:v>
                </c:pt>
                <c:pt idx="2">
                  <c:v>0.696</c:v>
                </c:pt>
                <c:pt idx="3">
                  <c:v>0.692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0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E93B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projet en 10 minutes : cas d'usage, audit, correction, comparaison des 3 méthodes, démo et XAI.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cours 4 (slide 28) distingue prédiction réaliste et prise de décision. Ici on est dans la décision : la correction des biais est justifiée. Vérifier les articles cités avant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Biais de données (cours 2). Un écart observé n'est pas une preuve de discrimination causale, mais un signal. L'analyse sexe × origine montre des écarts invisibles quand on regarde chaque attribut séparément.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Ethics by design (cours 4) : parties prenantes = demandeurs, groupes défavorisés, conseillers, banque, société (boucle de rétroaction).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Kamiran–Calders rend la cible statistiquement indépendante du groupe dans les données d'entraînement. Le bornage à 3 est une adaptation : le groupe femme noire &gt;50K atteint la borne.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Méthodes du cours 3. LoRA réduit les paramètres entraînés d'un facteur 90 et la taille sur disque d'un facteur 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Biais d'évaluation (cours 2) : on ne regarde pas que l'accuracy. Le fine-tuning complet corrigé perd 0,7 point d'accuracy et divise par 4 l'écart de parité par sexe. Le LoRA corrigé perd plus en F1 (−0,047).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correction, un vrai &gt;50K avait 50 points de chances en moins d'être détecté selon son groupe. Après : quasi nul. L'origine reste plus difficile, car les groupes non blancs sont petits dans le test (33 à 44 personnes).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cases grisées sont des groupes de moins de 20 personnes dans le test. La correction ramène les femmes au niveau des hommes, mais le modèle corrigé sous-estime désormais les hommes blancs (17 % prédits vs 32 % réels).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 3, slide Benchmark : le fine-tuning complet est la solution premium. Pour un usage bancaire à haut risque, on privilégie équité puis performance. Si le déploiement doit être léger, la distillation est défendable.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red teaming contrefactuel. Attention : le notebook compare le LoRA original au fine-tuning complet corrigé, donc deux architectures. L'effet du sexe avant correction est clair, mais pour une comparaison stricte il faudrait le fine-tuning complet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Profil de démo : femme noire. LIME explique localement en retirant des mots ; SHAP attribue des valeurs de Shapley à chaque fragment. Les deux concordent.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 2 : types de biais et cadre amont / pendant / aval. L'aval n'est pas implémenté ici, ce serait la condition d'un déploiement.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les questions. Pistes : plusieurs graines, plus de données, comparer à un modèle génératif (DistilGPT-2 comme au 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Éthique de l'IA · ECE ING5 · Adult Income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crédit plus équitable 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Audit et réduction des biais d'un modèle de langage sur Adult Income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17A398"/>
                </a:solidFill>
              </a:rPr>
              <a:t>Oscar Schwartz · Hugo Bassaget  —  ECE Paris, ING5 Data &amp; IA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 d'usage : pré-qualifier une demande de crédit</a:t>
            </a:r>
            <a:endParaRPr lang="en-US" sz="3200" dirty="0"/>
          </a:p>
        </p:txBody>
      </p:sp>
      <p:sp>
        <p:nvSpPr>
          <p:cNvPr id="3" name="carte-cas"/>
          <p:cNvSpPr/>
          <p:nvPr/>
        </p:nvSpPr>
        <p:spPr>
          <a:xfrm>
            <a:off x="548640" y="1371600"/>
            <a:ext cx="548640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La question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Une banque fictive veut savoir si le revenu d'un demandeur dépasse 50 000 $ pour l'orienter vers une offre de crédit.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Données : Adult Income (recensement US, 1994)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3 000 personnes, 23,9 % gagnent plus de 50 K$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Attributs sensibles audités : sexe, origine et leur croisement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029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C'est une aide à la décision : on audite et on corrige les biais.</a:t>
            </a:r>
            <a:endParaRPr lang="en-US" sz="1500" dirty="0"/>
          </a:p>
        </p:txBody>
      </p:sp>
      <p:sp>
        <p:nvSpPr>
          <p:cNvPr id="8" name="carte-reglementation"/>
          <p:cNvSpPr/>
          <p:nvPr/>
        </p:nvSpPr>
        <p:spPr>
          <a:xfrm>
            <a:off x="6400800" y="1371600"/>
            <a:ext cx="5212080" cy="4663440"/>
          </a:xfrm>
          <a:prstGeom prst="roundRect">
            <a:avLst>
              <a:gd name="adj" fmla="val 1569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2084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Pourquoi c'est sensible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240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AI Act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58775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solvabilité des personnes est un usage à haut risque : documentation, supervision humaine, explicabilité.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3474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RGPD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38221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L'origine est une donnée sensible (art. 9). Droit de refuser une décision entièrement automatisée (art. 22).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4709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Par défaut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505663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 modèle recommande, un humain décide, chaque score est expliqué.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reproduisent de fortes inégalités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30 %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des hommes gagnent plus de 50 K$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des femmes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6177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40 % vs 6 %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394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hommes Asian-Pac-Islander vs femmes noires</a:t>
            </a:r>
            <a:endParaRPr 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463040"/>
            <a:ext cx="7498080" cy="2312183"/>
          </a:xfrm>
          <a:prstGeom prst="rect">
            <a:avLst/>
          </a:prstGeom>
        </p:spPr>
      </p:pic>
      <p:sp>
        <p:nvSpPr>
          <p:cNvPr id="10" name="carte-lecture"/>
          <p:cNvSpPr/>
          <p:nvPr/>
        </p:nvSpPr>
        <p:spPr>
          <a:xfrm>
            <a:off x="4114800" y="4160520"/>
            <a:ext cx="749808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89120" y="4297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montre le croisement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389120" y="47091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Être une femme noire cumule deux désavantages : 6 % de &gt;50K, le taux le plus bas des groupes assez grands.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Certains groupes sont trop petits pour conclure (Other : 15 personnes).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démarche éthique dès la conception</a:t>
            </a:r>
            <a:endParaRPr lang="en-US" sz="3200" dirty="0"/>
          </a:p>
        </p:txBody>
      </p:sp>
      <p:sp>
        <p:nvSpPr>
          <p:cNvPr id="3" name="etape-1"/>
          <p:cNvSpPr/>
          <p:nvPr/>
        </p:nvSpPr>
        <p:spPr>
          <a:xfrm>
            <a:off x="548640" y="1828800"/>
            <a:ext cx="2057400" cy="2926080"/>
          </a:xfrm>
          <a:prstGeom prst="roundRect">
            <a:avLst>
              <a:gd name="adj" fmla="val 3556"/>
            </a:avLst>
          </a:prstGeom>
          <a:solidFill>
            <a:srgbClr val="E6F5F3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Auditer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Taux de &gt;50K par sexe, origine et sexe × origine</a:t>
            </a:r>
            <a:endParaRPr lang="en-US" sz="1400" dirty="0"/>
          </a:p>
        </p:txBody>
      </p:sp>
      <p:sp>
        <p:nvSpPr>
          <p:cNvPr id="8" name="etape-2"/>
          <p:cNvSpPr/>
          <p:nvPr/>
        </p:nvSpPr>
        <p:spPr>
          <a:xfrm>
            <a:off x="2834640" y="1828800"/>
            <a:ext cx="2057400" cy="29260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063240" y="20574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63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Corriger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2004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Repondération Kamiran–Calders sur sexe × origine</a:t>
            </a:r>
            <a:endParaRPr lang="en-US" sz="1400" dirty="0"/>
          </a:p>
        </p:txBody>
      </p:sp>
      <p:sp>
        <p:nvSpPr>
          <p:cNvPr id="13" name="etape-3"/>
          <p:cNvSpPr/>
          <p:nvPr/>
        </p:nvSpPr>
        <p:spPr>
          <a:xfrm>
            <a:off x="5120640" y="1828800"/>
            <a:ext cx="2057400" cy="2926080"/>
          </a:xfrm>
          <a:prstGeom prst="roundRect">
            <a:avLst>
              <a:gd name="adj" fmla="val 3556"/>
            </a:avLst>
          </a:prstGeom>
          <a:solidFill>
            <a:srgbClr val="E6F5F3"/>
          </a:solidFill>
          <a:ln/>
        </p:spPr>
      </p:sp>
      <p:sp>
        <p:nvSpPr>
          <p:cNvPr id="14" name="Shape 12"/>
          <p:cNvSpPr/>
          <p:nvPr/>
        </p:nvSpPr>
        <p:spPr>
          <a:xfrm>
            <a:off x="5349240" y="20574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49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Adapter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32004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Fine-tuning complet, LoRA, distillation</a:t>
            </a:r>
            <a:endParaRPr lang="en-US" sz="1400" dirty="0"/>
          </a:p>
        </p:txBody>
      </p:sp>
      <p:sp>
        <p:nvSpPr>
          <p:cNvPr id="18" name="etape-4"/>
          <p:cNvSpPr/>
          <p:nvPr/>
        </p:nvSpPr>
        <p:spPr>
          <a:xfrm>
            <a:off x="7406640" y="1828800"/>
            <a:ext cx="2057400" cy="292608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7635240" y="20574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35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63524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Choisir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635240" y="32004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Critère explicite : équité, performance, sobriété</a:t>
            </a:r>
            <a:endParaRPr lang="en-US" sz="1400" dirty="0"/>
          </a:p>
        </p:txBody>
      </p:sp>
      <p:sp>
        <p:nvSpPr>
          <p:cNvPr id="23" name="etape-5"/>
          <p:cNvSpPr/>
          <p:nvPr/>
        </p:nvSpPr>
        <p:spPr>
          <a:xfrm>
            <a:off x="9692640" y="1828800"/>
            <a:ext cx="2057400" cy="2926080"/>
          </a:xfrm>
          <a:prstGeom prst="roundRect">
            <a:avLst>
              <a:gd name="adj" fmla="val 3556"/>
            </a:avLst>
          </a:prstGeom>
          <a:solidFill>
            <a:srgbClr val="E6F5F3"/>
          </a:solidFill>
          <a:ln/>
        </p:spPr>
      </p:sp>
      <p:sp>
        <p:nvSpPr>
          <p:cNvPr id="24" name="Shape 22"/>
          <p:cNvSpPr/>
          <p:nvPr/>
        </p:nvSpPr>
        <p:spPr>
          <a:xfrm>
            <a:off x="9921240" y="20574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921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92124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Expliquer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9921240" y="32004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Démo contrefactuelle, LIME et SHAP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Red teaming éthique : on teste le modèle en ne changeant que le sexe et l'origine d'un même dossier.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Repondérer pour casser le lien entre groupe et cible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Poids d'un exemple</a:t>
            </a:r>
            <a:endParaRPr lang="en-US" sz="1800" dirty="0"/>
          </a:p>
        </p:txBody>
      </p:sp>
      <p:sp>
        <p:nvSpPr>
          <p:cNvPr id="4" name="formule"/>
          <p:cNvSpPr/>
          <p:nvPr/>
        </p:nvSpPr>
        <p:spPr>
          <a:xfrm>
            <a:off x="548640" y="1920240"/>
            <a:ext cx="548640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P(groupe) × P(cible) / P(groupe, cible)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Les exemples rares (femme noire à &gt;50K) pèsent plus, les fréquents moins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Calculé sur le train uniquement, sur le croisement sexe × origine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Poids bornés entre 0,5 et 3 pour la stabilité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Variante : retirer sexe et origine du texte (« sans attributs »)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0" y="1371600"/>
          <a:ext cx="5212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façons d'adapter DistilBERT</a:t>
            </a:r>
            <a:endParaRPr lang="en-US" sz="3200" dirty="0"/>
          </a:p>
        </p:txBody>
      </p:sp>
      <p:sp>
        <p:nvSpPr>
          <p:cNvPr id="3" name="methode-1"/>
          <p:cNvSpPr/>
          <p:nvPr/>
        </p:nvSpPr>
        <p:spPr>
          <a:xfrm>
            <a:off x="548640" y="1463040"/>
            <a:ext cx="3474720" cy="44805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Fine-tuning complet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Tous les paramètres sont ajustés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paramètres entraînés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268 Mo sur disque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Meilleure performance, coûteux</a:t>
            </a:r>
            <a:endParaRPr lang="en-US" sz="1400" dirty="0"/>
          </a:p>
        </p:txBody>
      </p:sp>
      <p:sp>
        <p:nvSpPr>
          <p:cNvPr id="10" name="methode-2"/>
          <p:cNvSpPr/>
          <p:nvPr/>
        </p:nvSpPr>
        <p:spPr>
          <a:xfrm>
            <a:off x="4297680" y="1463040"/>
            <a:ext cx="3474720" cy="44805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LoRA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Modèle gelé, petites matrices de rang faible ajoutées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0632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0,74 M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749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paramètres entraînés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 Mo sur disque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Léger et rapide, parfois moins performant</a:t>
            </a:r>
            <a:endParaRPr lang="en-US" sz="1400" dirty="0"/>
          </a:p>
        </p:txBody>
      </p:sp>
      <p:sp>
        <p:nvSpPr>
          <p:cNvPr id="17" name="methode-3"/>
          <p:cNvSpPr/>
          <p:nvPr/>
        </p:nvSpPr>
        <p:spPr>
          <a:xfrm>
            <a:off x="8046720" y="1463040"/>
            <a:ext cx="3474720" cy="44805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2104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Distillation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BERT-tiny imite le LoRA corrigé (professeur)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0632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4,4 M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749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paramètres entraînés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18 Mo sur disque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572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Petit modèle à exécuter, dépend du professeur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Même protocole : 3 epochs, même échantillon, versions avant et après correction.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: la correction coûte peu en performance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143000"/>
                <a:gridCol w="1097280"/>
                <a:gridCol w="1463040"/>
                <a:gridCol w="1463040"/>
                <a:gridCol w="1737360"/>
                <a:gridCol w="13258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F1 macro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Taux prédit &gt;50K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Écart parité sexe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Écart parité sexe × origine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Entraînement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Full FT (original)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81,5 %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0,713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16,5 %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0,248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0,257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36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Full FT (corrigé)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80,8 %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0,706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17,2 %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0,059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0,173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25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LoRA (original)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79,3 %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0,684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17,3 %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0,260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0,266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14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LoRA (corrigé)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76,9 %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0,637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15,7 %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0,043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0,141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14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LoRA (corrigé, sans attributs)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78,8 %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0,656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14,1 %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0,037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0,156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15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Distillation (corrigée)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80,1 %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0,686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15,5 %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0,051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0,178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13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Taux réel de &gt;50K dans le test : 23,9 %. Tous les modèles le sous-estiment, mais aucun ne s'effondre en prédisant toujours &lt;=50K.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Ligne verte : le modèle retenu.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Après correction, les écarts par sexe s'effondrent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L'écart par origine baisse moins : 0,34 → 0,32 pour LoRA, 0,23 → 0,13 pour le fine-tuning complet.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correction, aucune femme n'est prédite à &gt;50K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6271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2062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9377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des femmes prédites &gt;50K par le LoRA original (réalité : 13 % des femmes blanches)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42062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 vs 17 %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49377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femmes vs hommes blancs après correction : l'écart presque disparaît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retenu : le fine-tuning complet corrigé</a:t>
            </a:r>
            <a:endParaRPr lang="en-US" sz="3200" dirty="0"/>
          </a:p>
        </p:txBody>
      </p:sp>
      <p:sp>
        <p:nvSpPr>
          <p:cNvPr id="3" name="critere"/>
          <p:cNvSpPr/>
          <p:nvPr/>
        </p:nvSpPr>
        <p:spPr>
          <a:xfrm>
            <a:off x="548640" y="1371600"/>
            <a:ext cx="49377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Critère de choix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945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Écarter les modèles non corrigés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3375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3375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Garder ceux à moins de 0,03 du meilleur 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4805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Choisir le plus petit écart sexe × origine, puis le plus sobre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16636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Short-list : fine-tuning complet et distillation. Le LoRA corrigé avait le plus petit écart mais un F1 trop bas (0,637).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0,706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F1 macro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80,8 %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852160" y="3291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0,06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écart de parité sexe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291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0,001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écart d'égalité des chances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0" y="52578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Contrepartie : 268 Mo et 67 M de paramètres entraînés. La distillation (18 Mo, F1 0,686) est l'alternative sobre.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 : même dossier, seuls le sexe et l'origine changent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40 ans · Private · Bachelors · Exec-managerial · 45 h/semaine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1323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19202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pts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743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d'écart avant correction : une femme a deux fois moins de chances, à dossier identique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9319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 pt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d'écart après : le sexe et l'origine ne changent plus la décision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LIME et SHAP : « Female » ne pèse plus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3104355"/>
          </a:xfrm>
          <a:prstGeom prst="rect">
            <a:avLst/>
          </a:prstGeom>
        </p:spPr>
      </p:pic>
      <p:sp>
        <p:nvSpPr>
          <p:cNvPr id="4" name="xai-Avant"/>
          <p:cNvSpPr/>
          <p:nvPr/>
        </p:nvSpPr>
        <p:spPr>
          <a:xfrm>
            <a:off x="548640" y="475488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48646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Avant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2303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LIME : « Female » est le mot le plus négatif (−0,20). SHAP confirme : « Female » = −0,06, le plus fort effet négatif.</a:t>
            </a:r>
            <a:endParaRPr lang="en-US" sz="1400" dirty="0"/>
          </a:p>
        </p:txBody>
      </p:sp>
      <p:sp>
        <p:nvSpPr>
          <p:cNvPr id="7" name="xai-Après"/>
          <p:cNvSpPr/>
          <p:nvPr/>
        </p:nvSpPr>
        <p:spPr>
          <a:xfrm>
            <a:off x="6217920" y="475488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92240" y="48646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Après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52303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Les mots décisifs sont le diplôme, la profession et les heures. « Black » garde un faible effet résiduel (−0,02).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quatre biais du cours, appliqués au projet</a:t>
            </a:r>
            <a:endParaRPr lang="en-US" sz="3200" dirty="0"/>
          </a:p>
        </p:txBody>
      </p:sp>
      <p:sp>
        <p:nvSpPr>
          <p:cNvPr id="3" name="biais-Données"/>
          <p:cNvSpPr/>
          <p:nvPr/>
        </p:nvSpPr>
        <p:spPr>
          <a:xfrm>
            <a:off x="548640" y="1417320"/>
            <a:ext cx="34747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Données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Écarts historiques de revenu selon le sexe et l'origine (1994)</a:t>
            </a:r>
            <a:endParaRPr lang="en-US" sz="1400" dirty="0"/>
          </a:p>
        </p:txBody>
      </p:sp>
      <p:sp>
        <p:nvSpPr>
          <p:cNvPr id="6" name="biais-Algorithmique"/>
          <p:cNvSpPr/>
          <p:nvPr/>
        </p:nvSpPr>
        <p:spPr>
          <a:xfrm>
            <a:off x="4297680" y="1417320"/>
            <a:ext cx="34747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Algorithmique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14884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 revenu comme indicateur de solvabilité ; attributs sensibles dans l'entrée</a:t>
            </a:r>
            <a:endParaRPr lang="en-US" sz="1400" dirty="0"/>
          </a:p>
        </p:txBody>
      </p:sp>
      <p:sp>
        <p:nvSpPr>
          <p:cNvPr id="9" name="biais-Évaluation"/>
          <p:cNvSpPr/>
          <p:nvPr/>
        </p:nvSpPr>
        <p:spPr>
          <a:xfrm>
            <a:off x="548640" y="3749040"/>
            <a:ext cx="34747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Évaluation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4805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L'accuracy masque tout : on suit F1, taux prédit et écarts par groupe</a:t>
            </a:r>
            <a:endParaRPr lang="en-US" sz="1400" dirty="0"/>
          </a:p>
        </p:txBody>
      </p:sp>
      <p:sp>
        <p:nvSpPr>
          <p:cNvPr id="12" name="biais-Usage"/>
          <p:cNvSpPr/>
          <p:nvPr/>
        </p:nvSpPr>
        <p:spPr>
          <a:xfrm>
            <a:off x="4297680" y="3749040"/>
            <a:ext cx="347472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Usage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4805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Boucle de rétroaction : refus de crédit, revenus plus bas, nouveaux refus</a:t>
            </a:r>
            <a:endParaRPr lang="en-US" sz="1400" dirty="0"/>
          </a:p>
        </p:txBody>
      </p:sp>
      <p:sp>
        <p:nvSpPr>
          <p:cNvPr id="15" name="amont-aval"/>
          <p:cNvSpPr/>
          <p:nvPr/>
        </p:nvSpPr>
        <p:spPr>
          <a:xfrm>
            <a:off x="8138160" y="1417320"/>
            <a:ext cx="3474720" cy="4434840"/>
          </a:xfrm>
          <a:prstGeom prst="roundRect">
            <a:avLst>
              <a:gd name="adj" fmla="val 2105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Tout au long du cycle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286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Amont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06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audit, y compris intersectionnel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Pendant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49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repondération, métriques par sous-groupe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4572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Aval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4892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explication au demandeur, recours humain, suivi des écarts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3B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équitable, pas encore juste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accent5"/>
                </a:solidFill>
              </a:rPr>
              <a:t>La repondération divise l'écart par sexe par 4 pour moins d'un point d'accuracy.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accent5"/>
                </a:solidFill>
              </a:rPr>
              <a:t>Limites : une seule graine, 750 exemples de test, groupes d'origine trop petits, données de 1994.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accent5"/>
                </a:solidFill>
              </a:rPr>
              <a:t>Une métrique plus faible ne rend pas le système juste : la cible et l'usage restent des choix humains.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hique IA">
  <a:themeElements>
    <a:clrScheme name="Ethique IA">
      <a:dk1>
        <a:srgbClr val="1B1F3B"/>
      </a:dk1>
      <a:lt1>
        <a:srgbClr val="FFFFFF"/>
      </a:lt1>
      <a:dk2>
        <a:srgbClr val="4A4F6A"/>
      </a:dk2>
      <a:lt2>
        <a:srgbClr val="F1F2F7"/>
      </a:lt2>
      <a:accent1>
        <a:srgbClr val="1B1F3B"/>
      </a:accent1>
      <a:accent2>
        <a:srgbClr val="17A398"/>
      </a:accent2>
      <a:accent3>
        <a:srgbClr val="E4572E"/>
      </a:accent3>
      <a:accent4>
        <a:srgbClr val="F2B134"/>
      </a:accent4>
      <a:accent5>
        <a:srgbClr val="8E93B5"/>
      </a:accent5>
      <a:accent6>
        <a:srgbClr val="2E3560"/>
      </a:accent6>
      <a:hlink>
        <a:srgbClr val="17A398"/>
      </a:hlink>
      <a:folHlink>
        <a:srgbClr val="8E93B5"/>
      </a:folHlink>
    </a:clrScheme>
    <a:fontScheme name="Ethique I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Éthique de l'IA : Adult Income</dc:title>
  <dc:subject>PptxGenJS Presentation</dc:subject>
  <dc:creator>Oscar Schwartz, Hugo Bassaget</dc:creator>
  <cp:lastModifiedBy>Oscar Schwartz, Hugo Bassaget</cp:lastModifiedBy>
  <cp:revision>1</cp:revision>
  <dcterms:created xsi:type="dcterms:W3CDTF">2026-10-05T15:03:30Z</dcterms:created>
  <dcterms:modified xsi:type="dcterms:W3CDTF">2026-10-05T15:03:30Z</dcterms:modified>
</cp:coreProperties>
</file>